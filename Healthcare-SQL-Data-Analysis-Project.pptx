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embeddedFontLst>
    <p:embeddedFont>
      <p:font typeface="Host Grotesk Light"/>
      <p:regular r:id="rId201314"/>
    </p:embeddedFont>
    <p:embeddedFont>
      <p:font typeface="Host Grotesk"/>
      <p:regular r:id="rId201315"/>
    </p:embeddedFont>
    <p:embeddedFont>
      <p:font typeface="Host Grotesk Medium"/>
      <p:regular r:id="rId201316"/>
    </p:embeddedFont>
    <p:embeddedFont>
      <p:font typeface="Host Grotesk SemiBold"/>
      <p:regular r:id="rId201317"/>
    </p:embeddedFont>
    <p:embeddedFont>
      <p:font typeface="Host Grotesk Bold"/>
      <p:regular r:id="rId201318"/>
    </p:embeddedFont>
    <p:embeddedFont>
      <p:font typeface="Host Grotesk ExtraBold"/>
      <p:regular r:id="rId201319"/>
    </p:embeddedFont>
    <p:embeddedFont>
      <p:font typeface="Roboto Light"/>
      <p:regular r:id="rId201320"/>
    </p:embeddedFont>
    <p:embeddedFont>
      <p:font typeface="Roboto"/>
      <p:regular r:id="rId201321"/>
    </p:embeddedFont>
    <p:embeddedFont>
      <p:font typeface="Roboto Thin"/>
      <p:regular r:id="rId201322"/>
    </p:embeddedFont>
    <p:embeddedFont>
      <p:font typeface="Roboto ExtraLight"/>
      <p:regular r:id="rId201323"/>
    </p:embeddedFont>
    <p:embeddedFont>
      <p:font typeface="Roboto Medium"/>
      <p:regular r:id="rId201324"/>
    </p:embeddedFont>
    <p:embeddedFont>
      <p:font typeface="Roboto SemiBold"/>
      <p:regular r:id="rId201325"/>
    </p:embeddedFont>
    <p:embeddedFont>
      <p:font typeface="Roboto Bold"/>
      <p:regular r:id="rId201326"/>
    </p:embeddedFont>
    <p:embeddedFont>
      <p:font typeface="Roboto ExtraBold"/>
      <p:regular r:id="rId201327"/>
    </p:embeddedFont>
    <p:embeddedFont>
      <p:font typeface="Roboto Black"/>
      <p:regular r:id="rId2013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1.png"/><Relationship Id="rId8" Type="http://schemas.openxmlformats.org/officeDocument/2006/relationships/image" Target="../media/image-9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25000" y="10000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290" y="818555"/>
            <a:ext cx="2629793" cy="350639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113481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Healthcare SQL Data Analysis Project</a:t>
            </a:r>
            <a:endParaRPr lang="en-US" sz="2750" dirty="0"/>
          </a:p>
        </p:txBody>
      </p:sp>
      <p:sp>
        <p:nvSpPr>
          <p:cNvPr id="5" name="Text 1"/>
          <p:cNvSpPr/>
          <p:nvPr/>
        </p:nvSpPr>
        <p:spPr>
          <a:xfrm>
            <a:off x="496119" y="2233389"/>
            <a:ext cx="4722763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end-to-end SQL analysis of a real-world healthcare dataset — uncovering patient trends, billing patterns, and clinical outcomes.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496119" y="2818061"/>
            <a:ext cx="4722763" cy="1190551"/>
          </a:xfrm>
          <a:prstGeom prst="roundRect">
            <a:avLst>
              <a:gd name="adj" fmla="val 5001"/>
            </a:avLst>
          </a:prstGeom>
          <a:solidFill>
            <a:srgbClr val="D9EDF2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014067"/>
            <a:ext cx="177180" cy="14175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56816" y="2995240"/>
            <a:ext cx="4120307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Objective: Leverage SQL querying to identify patterns in patient demographics, medical conditions, hospital operations, and billing — enabling data-driven decisions for improved clinical quality and cost efficiency.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Overview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2357438"/>
            <a:ext cx="5177582" cy="1162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Tool:</a:t>
            </a:r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MySQL — database creation, data import, and multi-dimensional querying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Dataset:</a:t>
            </a:r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Healthcare patient records including demographics, diagnoses, admissions, billing, and test results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Goal:</a:t>
            </a:r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Extract actionable insights on patient health, hospital operations, and financial patterns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002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Dataset Structure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396529"/>
            <a:ext cx="4004965" cy="1598637"/>
          </a:xfrm>
          <a:prstGeom prst="roundRect">
            <a:avLst>
              <a:gd name="adj" fmla="val 3725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1543050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Patient Info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1849562"/>
            <a:ext cx="3711922" cy="999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Name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Gender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Blood type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396529"/>
            <a:ext cx="4005039" cy="1598637"/>
          </a:xfrm>
          <a:prstGeom prst="roundRect">
            <a:avLst>
              <a:gd name="adj" fmla="val 3725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9363" y="1543050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Clinical Data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9363" y="1849562"/>
            <a:ext cx="3711997" cy="999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Medical condition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Admission type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Medication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results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3136925"/>
            <a:ext cx="4004965" cy="1336477"/>
          </a:xfrm>
          <a:prstGeom prst="roundRect">
            <a:avLst>
              <a:gd name="adj" fmla="val 4455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640" y="3283446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Operational Data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2640" y="3589958"/>
            <a:ext cx="3711922" cy="736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Hospital &amp; doctor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 of admission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Discharge date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3136925"/>
            <a:ext cx="4005039" cy="1336477"/>
          </a:xfrm>
          <a:prstGeom prst="roundRect">
            <a:avLst>
              <a:gd name="adj" fmla="val 4455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9363" y="3283446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Financial Data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89363" y="3589958"/>
            <a:ext cx="3711997" cy="474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Insurance provider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Billing amount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404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Workflow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7719" y="1320552"/>
            <a:ext cx="6348487" cy="28567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54047" y="1439202"/>
            <a:ext cx="1110961" cy="171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Setup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2354047" y="1659715"/>
            <a:ext cx="1110961" cy="274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MySQL DB and import data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452800" y="3581769"/>
            <a:ext cx="1117065" cy="171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Explore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452800" y="3802282"/>
            <a:ext cx="1117065" cy="274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Preview structure with SELECT queries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539344" y="1417837"/>
            <a:ext cx="1110960" cy="171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Segment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39344" y="1638351"/>
            <a:ext cx="1110960" cy="274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Query by gender, age, blood type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638096" y="3581769"/>
            <a:ext cx="1110961" cy="171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Operations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38096" y="3802282"/>
            <a:ext cx="1110961" cy="274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Admissions, stays, doctor outcomes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96119" y="4336777"/>
            <a:ext cx="8608963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phase builds on the last — from raw data import through to actionable clinical and financial insights.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5979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Medical Conditions Analyzed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686297"/>
            <a:ext cx="4004965" cy="543074"/>
          </a:xfrm>
          <a:prstGeom prst="roundRect">
            <a:avLst>
              <a:gd name="adj" fmla="val 10964"/>
            </a:avLst>
          </a:prstGeom>
          <a:solidFill>
            <a:srgbClr val="FAF9F5"/>
          </a:solidFill>
          <a:ln w="19050">
            <a:solidFill>
              <a:srgbClr val="BFD3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6927" y="1847106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Cancer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642842" y="1686297"/>
            <a:ext cx="4005039" cy="543074"/>
          </a:xfrm>
          <a:prstGeom prst="roundRect">
            <a:avLst>
              <a:gd name="adj" fmla="val 10964"/>
            </a:avLst>
          </a:prstGeom>
          <a:solidFill>
            <a:srgbClr val="FAF9F5"/>
          </a:solidFill>
          <a:ln w="19050">
            <a:solidFill>
              <a:srgbClr val="BFD3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3651" y="1847106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Diabetes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96119" y="2371130"/>
            <a:ext cx="4004965" cy="543074"/>
          </a:xfrm>
          <a:prstGeom prst="roundRect">
            <a:avLst>
              <a:gd name="adj" fmla="val 10964"/>
            </a:avLst>
          </a:prstGeom>
          <a:solidFill>
            <a:srgbClr val="FAF9F5"/>
          </a:solidFill>
          <a:ln w="19050">
            <a:solidFill>
              <a:srgbClr val="BFD3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927" y="2531938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Hypertension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42842" y="2371130"/>
            <a:ext cx="4005039" cy="543074"/>
          </a:xfrm>
          <a:prstGeom prst="roundRect">
            <a:avLst>
              <a:gd name="adj" fmla="val 10964"/>
            </a:avLst>
          </a:prstGeom>
          <a:solidFill>
            <a:srgbClr val="FAF9F5"/>
          </a:solidFill>
          <a:ln w="19050">
            <a:solidFill>
              <a:srgbClr val="BFD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3651" y="2531938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Obesity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96119" y="3055962"/>
            <a:ext cx="4004965" cy="543074"/>
          </a:xfrm>
          <a:prstGeom prst="roundRect">
            <a:avLst>
              <a:gd name="adj" fmla="val 10964"/>
            </a:avLst>
          </a:prstGeom>
          <a:solidFill>
            <a:srgbClr val="FAF9F5"/>
          </a:solidFill>
          <a:ln w="19050">
            <a:solidFill>
              <a:srgbClr val="BFD3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927" y="3216771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Arthritis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642842" y="3055962"/>
            <a:ext cx="4005039" cy="543074"/>
          </a:xfrm>
          <a:prstGeom prst="roundRect">
            <a:avLst>
              <a:gd name="adj" fmla="val 10964"/>
            </a:avLst>
          </a:prstGeom>
          <a:solidFill>
            <a:srgbClr val="FAF9F5"/>
          </a:solidFill>
          <a:ln w="19050">
            <a:solidFill>
              <a:srgbClr val="BFD3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3651" y="3216771"/>
            <a:ext cx="3683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Asthma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6119" y="3758505"/>
            <a:ext cx="8151763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condition was broken down by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gender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blood type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age group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identify which demographics are most affected and where targeted intervention is most needed.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349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Admission &amp; Hospital Stay Analysis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88554"/>
            <a:ext cx="3221980" cy="32219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2312491"/>
            <a:ext cx="4360143" cy="170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Analytical Approaches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749701" y="2610148"/>
            <a:ext cx="3902943" cy="954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Identified </a:t>
            </a:r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 distinct admission types</a:t>
            </a:r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Emergency, Elective, and Urgent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Calculated average hospital stay duration using </a:t>
            </a:r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DATEDIFF(DischargeDate, DateOfAdmission)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Ranked patients by length of stay to </a:t>
            </a:r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flag prolonged admissions</a:t>
            </a:r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requiring review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763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Test Results Deep Dive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894136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658" y="1894136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Normal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27658" y="2200647"/>
            <a:ext cx="2067595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Cases where test results fell within expected clinical ranges — the baseline for comparison.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894136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03972" y="1894136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Abnormal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803972" y="2200647"/>
            <a:ext cx="2067595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Results outside normal parameters — counted across the full dataset to measure clinical burden.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894136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80287" y="1894136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Inconclusive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580287" y="2200647"/>
            <a:ext cx="2067595" cy="850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Results that could not be definitively classified — flagged by doctor to serve as a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quality-of-care signal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96119" y="3210520"/>
            <a:ext cx="8151763" cy="765349"/>
          </a:xfrm>
          <a:prstGeom prst="roundRect">
            <a:avLst>
              <a:gd name="adj" fmla="val 7780"/>
            </a:avLst>
          </a:prstGeom>
          <a:solidFill>
            <a:srgbClr val="FCF2B5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877" y="3406527"/>
            <a:ext cx="177180" cy="14175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56816" y="3387700"/>
            <a:ext cx="7549307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Doctors with a disproportionately high share of inconclusive results were identified — a key indicator for clinical quality review.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Billing &amp; Insurance Analysis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182937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What Was Analyzed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546152"/>
            <a:ext cx="5177582" cy="1162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Billing amounts segmented by </a:t>
            </a:r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admission type</a:t>
            </a:r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medical condition, and length of stay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preferred </a:t>
            </a:r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insurance provider</a:t>
            </a:r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identified by patient count</a:t>
            </a:r>
            <a:endParaRPr lang="en-US" sz="1100" dirty="0"/>
          </a:p>
          <a:p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Billing cross-referenced with doctor, hospital, and test results for </a:t>
            </a:r>
            <a:pPr algn="l" marL="223520" indent="-22352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384653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cost-driver insights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4339" y="1585392"/>
            <a:ext cx="2628230" cy="26282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7952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SQL Techniques Used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806029"/>
            <a:ext cx="4004965" cy="1058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1966838"/>
            <a:ext cx="3607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Aggregations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2273350"/>
            <a:ext cx="3607147" cy="429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for summarizing patient and billing data across groups.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1806029"/>
            <a:ext cx="4005039" cy="10580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79851" y="1966838"/>
            <a:ext cx="3607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Grouping &amp; Filtering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879851" y="2273350"/>
            <a:ext cx="3607222" cy="429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for segmented analysis by condition, gender, and admission type.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05882"/>
            <a:ext cx="4004965" cy="10580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3127" y="3166690"/>
            <a:ext cx="3607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Date Functions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33127" y="3473202"/>
            <a:ext cx="3607147" cy="429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DATEDIFF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to compute hospital stay durations between admission and discharge dates.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2842" y="3005882"/>
            <a:ext cx="4005039" cy="10580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79851" y="3166690"/>
            <a:ext cx="3607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Distinct Queries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879851" y="3473202"/>
            <a:ext cx="3607222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Identifying unique conditions, insurance providers, and admission types across the dataset.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00450" cy="5143500"/>
          </a:xfrm>
          <a:prstGeom prst="rect">
            <a:avLst/>
          </a:prstGeom>
          <a:solidFill>
            <a:srgbClr val="D9EDF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818555"/>
            <a:ext cx="2629793" cy="35063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97043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Insights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28592" y="162602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925119" y="1847924"/>
            <a:ext cx="2290465" cy="1905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7" name="Text 4"/>
          <p:cNvSpPr/>
          <p:nvPr/>
        </p:nvSpPr>
        <p:spPr>
          <a:xfrm>
            <a:off x="3925119" y="1956867"/>
            <a:ext cx="2290465" cy="765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650"/>
              </a:spcAft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Blood Type &amp; Condition Prevalence</a:t>
            </a:r>
            <a:endParaRPr lang="en-US" sz="8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Certain blood types show higher prevalence of specific conditions — suggesting targeted screening opportunities.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360816" y="162602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57342" y="1847924"/>
            <a:ext cx="2290539" cy="1905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10" name="Text 7"/>
          <p:cNvSpPr/>
          <p:nvPr/>
        </p:nvSpPr>
        <p:spPr>
          <a:xfrm>
            <a:off x="6357342" y="1956867"/>
            <a:ext cx="2290539" cy="765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650"/>
              </a:spcAft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Age-Driven Disease Burden</a:t>
            </a:r>
            <a:endParaRPr lang="en-US" sz="8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Older age groups dominate cases of Cancer, Diabetes, and Hypertension across the dataset.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928592" y="297038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925119" y="3178150"/>
            <a:ext cx="2290465" cy="1905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13" name="Text 10"/>
          <p:cNvSpPr/>
          <p:nvPr/>
        </p:nvSpPr>
        <p:spPr>
          <a:xfrm>
            <a:off x="3925119" y="3301231"/>
            <a:ext cx="2290465" cy="765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650"/>
              </a:spcAft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Inconclusive Result Concentration</a:t>
            </a:r>
            <a:endParaRPr lang="en-US" sz="8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subset of doctors accounts for a disproportionate share of inconclusive test results — a quality-of-care red flag.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360816" y="297038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357342" y="3178150"/>
            <a:ext cx="2290539" cy="1905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16" name="Text 13"/>
          <p:cNvSpPr/>
          <p:nvPr/>
        </p:nvSpPr>
        <p:spPr>
          <a:xfrm>
            <a:off x="6357342" y="3301231"/>
            <a:ext cx="2290539" cy="765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650"/>
              </a:spcAft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Billing Variation by Admission Type</a:t>
            </a:r>
            <a:endParaRPr lang="en-US" sz="8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Billing amounts vary significantly by admission type and stay length — emergency admissions tend to cost considerably more.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948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Recommendations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165994"/>
            <a:ext cx="4004965" cy="1591791"/>
          </a:xfrm>
          <a:prstGeom prst="roundRect">
            <a:avLst>
              <a:gd name="adj" fmla="val 374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2640" y="1312515"/>
            <a:ext cx="425276" cy="425276"/>
          </a:xfrm>
          <a:prstGeom prst="ellipse">
            <a:avLst/>
          </a:prstGeom>
          <a:solidFill>
            <a:srgbClr val="C7E0E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619" y="1429420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2640" y="1879550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Preventive Care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186062"/>
            <a:ext cx="3711922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 screening programs for high-risk age and blood-type groups to catch conditions earlier and reduce severity.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42842" y="1165994"/>
            <a:ext cx="4005039" cy="1591791"/>
          </a:xfrm>
          <a:prstGeom prst="roundRect">
            <a:avLst>
              <a:gd name="adj" fmla="val 3741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89363" y="1312515"/>
            <a:ext cx="425276" cy="425276"/>
          </a:xfrm>
          <a:prstGeom prst="ellipse">
            <a:avLst/>
          </a:prstGeom>
          <a:solidFill>
            <a:srgbClr val="C7E0E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6342" y="1429420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89363" y="1879550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Clinical Quality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789363" y="2186062"/>
            <a:ext cx="3711997" cy="425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and support doctors with high inconclusive result rates through targeted training or equipment upgrades.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6119" y="2899544"/>
            <a:ext cx="4004965" cy="1804392"/>
          </a:xfrm>
          <a:prstGeom prst="roundRect">
            <a:avLst>
              <a:gd name="adj" fmla="val 330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2640" y="3046065"/>
            <a:ext cx="425276" cy="425276"/>
          </a:xfrm>
          <a:prstGeom prst="ellipse">
            <a:avLst/>
          </a:prstGeom>
          <a:solidFill>
            <a:srgbClr val="C7E0E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9619" y="3162970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2640" y="3613100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Cost Management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42640" y="3919612"/>
            <a:ext cx="3711922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emergency admissions via early intervention programs for chronic conditions like Diabetes and Hypertension.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42842" y="2899544"/>
            <a:ext cx="4005039" cy="1804392"/>
          </a:xfrm>
          <a:prstGeom prst="roundRect">
            <a:avLst>
              <a:gd name="adj" fmla="val 3300"/>
            </a:avLst>
          </a:prstGeom>
          <a:solidFill>
            <a:srgbClr val="D9EDF2"/>
          </a:solidFill>
          <a:ln w="4763">
            <a:solidFill>
              <a:srgbClr val="BFD3D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89363" y="3046065"/>
            <a:ext cx="425276" cy="425276"/>
          </a:xfrm>
          <a:prstGeom prst="ellipse">
            <a:avLst/>
          </a:prstGeom>
          <a:solidFill>
            <a:srgbClr val="C7E0E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06342" y="3162970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89363" y="3613100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Insurance Strategy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789363" y="3919612"/>
            <a:ext cx="3711997" cy="637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Negotiate better terms with the most-used provider to reduce patient billing burden and improve financial outcomes.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2026-07-25T13:12:36Z</dcterms:created>
  <dcterms:modified xsi:type="dcterms:W3CDTF">2026-07-25T13:12:36Z</dcterms:modified>
</cp:coreProperties>
</file>